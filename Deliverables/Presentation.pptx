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4472C4"/>
    <a:srgbClr val="172B52"/>
    <a:srgbClr val="F2F2FE"/>
    <a:srgbClr val="F2F2FF"/>
    <a:srgbClr val="F8F7FF"/>
    <a:srgbClr val="FEFEFF"/>
    <a:srgbClr val="DDDDFF"/>
    <a:srgbClr val="FFFFFD"/>
    <a:srgbClr val="FFF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72"/>
    <p:restoredTop sz="94649"/>
  </p:normalViewPr>
  <p:slideViewPr>
    <p:cSldViewPr snapToGrid="0">
      <p:cViewPr varScale="1">
        <p:scale>
          <a:sx n="102" d="100"/>
          <a:sy n="102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B682B-A3D1-E245-8C9D-9CFE5C43C091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7640E-ECD8-054A-AD62-C41ACD8409B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292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7640E-ECD8-054A-AD62-C41ACD8409BB}" type="slidenum">
              <a:rPr lang="en-IT" smtClean="0"/>
              <a:t>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4434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7640E-ECD8-054A-AD62-C41ACD8409BB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61460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7640E-ECD8-054A-AD62-C41ACD8409BB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67820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93E3-2B7B-3A5C-77E6-53A3C2EDC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E5D66-3A6B-3C95-3D99-3F0806DA3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A3B70-9263-0477-2015-D9F6B4E4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6ED7D-B340-EC35-FCCF-F28CED2C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9F248-3FB3-8DFC-F42F-B2EC79F9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27720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C1D0-A4D7-576B-B658-71C8BA20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DF0A-3BF2-60B6-5A71-403F3254E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DFAE2-6CC4-E0E7-4C7C-19807E1B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D29C1-524C-A4F8-1755-30008488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94DA1-4CCA-2CD0-4C24-AE0C09400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1893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56BA-43AC-C805-408D-0746A583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8F68C-9128-A66A-E526-CF6634D7F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378D8-F22A-B8AF-D1C7-92474350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A1801-EB32-DDEB-8D92-FA101CDAD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57E40-7ED7-65F7-DFF9-E382C2E1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564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4BDF-F8CC-72F5-9E37-79C73AF5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5A59-395C-97DA-31C9-A9CFCC2C4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82633-E07E-F898-E502-FA9163B09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0AD67-D9E0-1DA5-E1E6-ED4EA28C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E9E89-9EF2-D59C-0829-F1A3190F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6F81D-3999-7CEE-C209-02AF46F1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3873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20F78-4C82-C3D7-82B7-6621684C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FD5A6-78E7-02F7-DA77-A81C96D71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F1688-ECF9-84B3-87F6-15889C3BE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61F20-2354-06E9-8195-1FB2DADC5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3B5E8-4323-4E4F-D56D-8EB5C91D1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D1010E-62B0-32C7-FAA1-3384A0D76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A64A6-6B8A-4445-E13B-69A4AD65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116A5-02D0-7C1C-5534-C7F44707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1042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4AD0-9EF9-D9D4-CD59-5F8C4131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F28D7-5C29-F8A8-64E2-017065FC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C7A99-AF1A-B4A5-462E-C291DA6F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6051F-8D68-30FE-E134-D48B8CF9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1572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D17AE-2232-BACB-94FF-99E9D3A8F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BE428-7B7B-CBC9-25C4-56D730F4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4DEB0-7247-98C7-DA4A-24ADBEE4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81938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007C-F640-6674-5701-A78B7B70E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7753E-75C3-11BF-7B78-49B21CD4F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74779-C7C7-BDC3-9C52-258244C60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3F375-35A3-D4F5-71D6-6BCCAA2B9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2FCF6-FD47-00DF-A1E0-9E74E6C25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AB838-7F29-CB95-A72B-9CE6F2A4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497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C324-39A8-612E-97CF-30FDF0FD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60BF95-B640-B7B9-C07B-9E5ED6F35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22576-34AF-BDA6-F672-B95A075F2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34592-3C15-EBF0-C525-F7501C94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9C9E3-2C45-22F4-3173-BFCB82DF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2DAE1-C03C-5381-70FE-639D2F93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2625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A145-EBF2-6B45-6626-EBC6114F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66A63-1EB4-C24F-4C83-ACB4196E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6CFCA-9C9F-F598-813D-144FC743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C9170-5B0F-A964-A491-0EC44E15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33C77-7BA2-77A9-DDBA-1C6C0AFD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3325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89898A-BB20-E323-7423-49C118F27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EAE525-425D-2A81-4AAF-6F836F866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FCA73-187B-3DF7-9BB4-A5BDB6680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EDE77-D06F-8B23-A0B1-5AD95304F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80186-7D47-F6FB-6EBC-0D41812F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7649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D7E9B-AFF6-6714-E03D-EF699F31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35CD2-3BCB-EED9-14C0-3038072EE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8A1D1-BFB2-A2D5-26EE-619E07B31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14A0F-1054-E249-B30F-662F64E3A6E0}" type="datetimeFigureOut">
              <a:rPr lang="en-IT" smtClean="0"/>
              <a:t>02/07/23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1D718-CB6C-31B1-AF1F-693333F38A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165F8-A459-1E4C-3CD2-8C4CCD6C3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10C84-43D2-DF42-BC63-00396996209B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011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F0C08E-8E7E-E7EF-141A-9AE2A7F26508}"/>
              </a:ext>
            </a:extLst>
          </p:cNvPr>
          <p:cNvSpPr txBox="1"/>
          <p:nvPr/>
        </p:nvSpPr>
        <p:spPr>
          <a:xfrm>
            <a:off x="943788" y="2444115"/>
            <a:ext cx="103044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4000" b="1" dirty="0">
                <a:solidFill>
                  <a:srgbClr val="404040"/>
                </a:solidFill>
                <a:latin typeface="Helvetica" pitchFamily="2" charset="0"/>
              </a:rPr>
              <a:t>Prova</a:t>
            </a:r>
            <a:r>
              <a:rPr lang="en-IT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pitchFamily="2" charset="0"/>
              </a:rPr>
              <a:t> finale Ingegneria del Software 2023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BF7B4-6955-E487-951F-E98647DCE311}"/>
              </a:ext>
            </a:extLst>
          </p:cNvPr>
          <p:cNvSpPr txBox="1"/>
          <p:nvPr/>
        </p:nvSpPr>
        <p:spPr>
          <a:xfrm>
            <a:off x="1800446" y="3152001"/>
            <a:ext cx="5561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Monaco" pitchFamily="2" charset="77"/>
              </a:rPr>
              <a:t>b</a:t>
            </a:r>
            <a:r>
              <a:rPr lang="en-IT" b="1" dirty="0">
                <a:latin typeface="Monaco" pitchFamily="2" charset="77"/>
              </a:rPr>
              <a:t>ash-3.2$</a:t>
            </a:r>
            <a:r>
              <a:rPr lang="en-IT" dirty="0">
                <a:latin typeface="Monaco" pitchFamily="2" charset="77"/>
              </a:rPr>
              <a:t> </a:t>
            </a:r>
            <a:r>
              <a:rPr lang="en-IT" dirty="0">
                <a:solidFill>
                  <a:schemeClr val="tx1">
                    <a:lumMod val="65000"/>
                    <a:lumOff val="35000"/>
                  </a:schemeClr>
                </a:solidFill>
                <a:latin typeface="Monaco" pitchFamily="2" charset="77"/>
              </a:rPr>
              <a:t>groups</a:t>
            </a:r>
            <a:r>
              <a:rPr lang="en-IT" dirty="0">
                <a:latin typeface="Monaco" pitchFamily="2" charset="77"/>
              </a:rPr>
              <a:t> </a:t>
            </a:r>
            <a:r>
              <a:rPr lang="en-IT" dirty="0">
                <a:solidFill>
                  <a:srgbClr val="00B050"/>
                </a:solidFill>
                <a:latin typeface="Monaco" pitchFamily="2" charset="77"/>
              </a:rPr>
              <a:t>“San Pietro”</a:t>
            </a:r>
            <a:r>
              <a:rPr lang="en-IT" dirty="0">
                <a:solidFill>
                  <a:schemeClr val="tx1">
                    <a:lumMod val="65000"/>
                    <a:lumOff val="35000"/>
                  </a:schemeClr>
                </a:solidFill>
                <a:latin typeface="Monaco" pitchFamily="2" charset="77"/>
              </a:rPr>
              <a:t> | grep</a:t>
            </a:r>
            <a:r>
              <a:rPr lang="en-IT" dirty="0">
                <a:solidFill>
                  <a:srgbClr val="00B050"/>
                </a:solidFill>
                <a:latin typeface="Monaco" pitchFamily="2" charset="77"/>
              </a:rPr>
              <a:t> </a:t>
            </a:r>
            <a:r>
              <a:rPr lang="en-IT" dirty="0">
                <a:solidFill>
                  <a:srgbClr val="C00000"/>
                </a:solidFill>
                <a:latin typeface="Monaco" pitchFamily="2" charset="77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3120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3CBBF8-9F0A-57CA-88DD-D3598D89405A}"/>
              </a:ext>
            </a:extLst>
          </p:cNvPr>
          <p:cNvSpPr txBox="1"/>
          <p:nvPr/>
        </p:nvSpPr>
        <p:spPr>
          <a:xfrm>
            <a:off x="4990307" y="2653034"/>
            <a:ext cx="2211388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T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Implemented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B3647-322A-F630-2DBC-AA49481B0FD6}"/>
              </a:ext>
            </a:extLst>
          </p:cNvPr>
          <p:cNvSpPr txBox="1"/>
          <p:nvPr/>
        </p:nvSpPr>
        <p:spPr>
          <a:xfrm>
            <a:off x="180754" y="180754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0 | this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.</a:t>
            </a:r>
            <a:r>
              <a:rPr lang="en-IT" dirty="0">
                <a:solidFill>
                  <a:srgbClr val="00B0F0"/>
                </a:solidFill>
                <a:latin typeface="Monaco" pitchFamily="2" charset="77"/>
              </a:rPr>
              <a:t>introduction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;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7639B4-36A8-6278-58F1-401BC1E1DD87}"/>
              </a:ext>
            </a:extLst>
          </p:cNvPr>
          <p:cNvGrpSpPr/>
          <p:nvPr/>
        </p:nvGrpSpPr>
        <p:grpSpPr>
          <a:xfrm>
            <a:off x="940897" y="6064974"/>
            <a:ext cx="10373684" cy="418705"/>
            <a:chOff x="1212599" y="4819664"/>
            <a:chExt cx="10373684" cy="41870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475458-9D56-11E6-69DF-B87E8E30CDE8}"/>
                </a:ext>
              </a:extLst>
            </p:cNvPr>
            <p:cNvSpPr txBox="1"/>
            <p:nvPr/>
          </p:nvSpPr>
          <p:spPr>
            <a:xfrm>
              <a:off x="1212599" y="4832060"/>
              <a:ext cx="1559402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T" sz="2000" b="1" dirty="0"/>
                <a:t>Silvia Ferrara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20DE9D-CF04-647F-4E62-4697086311DA}"/>
                </a:ext>
              </a:extLst>
            </p:cNvPr>
            <p:cNvSpPr txBox="1"/>
            <p:nvPr/>
          </p:nvSpPr>
          <p:spPr>
            <a:xfrm>
              <a:off x="9336821" y="4819664"/>
              <a:ext cx="2249462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T" sz="2000" b="1" dirty="0"/>
                <a:t>Tommaso Morganti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5AF71B-BBF3-D5F9-2FF5-10189E5B6BFB}"/>
                </a:ext>
              </a:extLst>
            </p:cNvPr>
            <p:cNvSpPr txBox="1"/>
            <p:nvPr/>
          </p:nvSpPr>
          <p:spPr>
            <a:xfrm>
              <a:off x="3704417" y="4825862"/>
              <a:ext cx="1919628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T" sz="2000" b="1" dirty="0"/>
                <a:t>Andrea Ferrarini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878CD5-BE8F-0CCF-8F61-B791ABB355B9}"/>
                </a:ext>
              </a:extLst>
            </p:cNvPr>
            <p:cNvSpPr txBox="1"/>
            <p:nvPr/>
          </p:nvSpPr>
          <p:spPr>
            <a:xfrm>
              <a:off x="6505391" y="4838259"/>
              <a:ext cx="1968168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IT" sz="2000" b="1" dirty="0"/>
                <a:t>Arianna Gottardi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0AE16D2-CA13-3B00-E0C8-C08225C82249}"/>
              </a:ext>
            </a:extLst>
          </p:cNvPr>
          <p:cNvSpPr txBox="1"/>
          <p:nvPr/>
        </p:nvSpPr>
        <p:spPr>
          <a:xfrm>
            <a:off x="4891106" y="940303"/>
            <a:ext cx="2416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Socket and jRMI servers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1217DC-B562-6602-037D-ECAC9C4ECF1F}"/>
              </a:ext>
            </a:extLst>
          </p:cNvPr>
          <p:cNvSpPr txBox="1"/>
          <p:nvPr/>
        </p:nvSpPr>
        <p:spPr>
          <a:xfrm>
            <a:off x="2332017" y="2436206"/>
            <a:ext cx="19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 &amp; GU Interfaces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454F73-3BDC-19B1-BDC5-CBCDD15AFF06}"/>
              </a:ext>
            </a:extLst>
          </p:cNvPr>
          <p:cNvSpPr txBox="1"/>
          <p:nvPr/>
        </p:nvSpPr>
        <p:spPr>
          <a:xfrm>
            <a:off x="7911402" y="2462918"/>
            <a:ext cx="2944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Multiple simultaneous games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EE575-E679-A0EC-2DE7-F1DF5F492E33}"/>
              </a:ext>
            </a:extLst>
          </p:cNvPr>
          <p:cNvSpPr txBox="1"/>
          <p:nvPr/>
        </p:nvSpPr>
        <p:spPr>
          <a:xfrm>
            <a:off x="6680199" y="4751488"/>
            <a:ext cx="2462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Disconnection resilience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3068B-F53C-CE69-9C85-7551649E6E14}"/>
              </a:ext>
            </a:extLst>
          </p:cNvPr>
          <p:cNvSpPr txBox="1"/>
          <p:nvPr/>
        </p:nvSpPr>
        <p:spPr>
          <a:xfrm>
            <a:off x="3120184" y="4751488"/>
            <a:ext cx="236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Server-side peristency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4F1D25-CC85-BA00-880B-029106E313CB}"/>
              </a:ext>
            </a:extLst>
          </p:cNvPr>
          <p:cNvCxnSpPr>
            <a:cxnSpLocks/>
          </p:cNvCxnSpPr>
          <p:nvPr/>
        </p:nvCxnSpPr>
        <p:spPr>
          <a:xfrm>
            <a:off x="6094429" y="1310326"/>
            <a:ext cx="1816973" cy="131229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EF4301-21B7-7865-5EA1-F21F8E84DC67}"/>
              </a:ext>
            </a:extLst>
          </p:cNvPr>
          <p:cNvCxnSpPr>
            <a:cxnSpLocks/>
          </p:cNvCxnSpPr>
          <p:nvPr/>
        </p:nvCxnSpPr>
        <p:spPr>
          <a:xfrm flipH="1">
            <a:off x="7214716" y="2622620"/>
            <a:ext cx="696686" cy="213025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74D891D-6EDA-62C9-946E-A7073C1F7873}"/>
              </a:ext>
            </a:extLst>
          </p:cNvPr>
          <p:cNvCxnSpPr>
            <a:cxnSpLocks/>
          </p:cNvCxnSpPr>
          <p:nvPr/>
        </p:nvCxnSpPr>
        <p:spPr>
          <a:xfrm flipH="1">
            <a:off x="4980633" y="4752870"/>
            <a:ext cx="2234083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6BCD9C2-B34E-609F-3D63-CF9A71E9A9C1}"/>
              </a:ext>
            </a:extLst>
          </p:cNvPr>
          <p:cNvCxnSpPr>
            <a:cxnSpLocks/>
          </p:cNvCxnSpPr>
          <p:nvPr/>
        </p:nvCxnSpPr>
        <p:spPr>
          <a:xfrm flipH="1" flipV="1">
            <a:off x="4280598" y="2629319"/>
            <a:ext cx="709709" cy="21235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DB8DADF-35D8-BC41-3529-5BEBFBFF37D7}"/>
              </a:ext>
            </a:extLst>
          </p:cNvPr>
          <p:cNvCxnSpPr>
            <a:cxnSpLocks/>
          </p:cNvCxnSpPr>
          <p:nvPr/>
        </p:nvCxnSpPr>
        <p:spPr>
          <a:xfrm flipV="1">
            <a:off x="4280598" y="1309635"/>
            <a:ext cx="1812053" cy="131968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1623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5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8FC76DE-5B3E-D4CD-F24C-8F73C9885B52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2203102" y="660018"/>
            <a:ext cx="0" cy="2141583"/>
          </a:xfrm>
          <a:prstGeom prst="line">
            <a:avLst/>
          </a:prstGeom>
          <a:ln w="38100">
            <a:solidFill>
              <a:srgbClr val="FFC000"/>
            </a:solidFill>
            <a:prstDash val="dash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21D2FCB-117D-BF4C-0374-53CA747A08DE}"/>
              </a:ext>
            </a:extLst>
          </p:cNvPr>
          <p:cNvGrpSpPr/>
          <p:nvPr/>
        </p:nvGrpSpPr>
        <p:grpSpPr>
          <a:xfrm>
            <a:off x="1288701" y="2344401"/>
            <a:ext cx="914402" cy="914531"/>
            <a:chOff x="1288701" y="2344401"/>
            <a:chExt cx="914402" cy="914531"/>
          </a:xfrm>
        </p:grpSpPr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F0A89382-FEFF-C9C2-31AD-CAF71AF8F011}"/>
                </a:ext>
              </a:extLst>
            </p:cNvPr>
            <p:cNvSpPr/>
            <p:nvPr/>
          </p:nvSpPr>
          <p:spPr>
            <a:xfrm rot="16200000">
              <a:off x="1288701" y="2344532"/>
              <a:ext cx="914400" cy="914400"/>
            </a:xfrm>
            <a:prstGeom prst="arc">
              <a:avLst/>
            </a:prstGeom>
            <a:ln w="381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2" name="Arc 61">
              <a:extLst>
                <a:ext uri="{FF2B5EF4-FFF2-40B4-BE49-F238E27FC236}">
                  <a16:creationId xmlns:a16="http://schemas.microsoft.com/office/drawing/2014/main" id="{671283E0-E6B6-17B8-F9AE-B8C6B7ABB4AE}"/>
                </a:ext>
              </a:extLst>
            </p:cNvPr>
            <p:cNvSpPr/>
            <p:nvPr/>
          </p:nvSpPr>
          <p:spPr>
            <a:xfrm rot="5400000">
              <a:off x="1288702" y="2344401"/>
              <a:ext cx="914400" cy="914400"/>
            </a:xfrm>
            <a:prstGeom prst="arc">
              <a:avLst/>
            </a:prstGeom>
            <a:ln w="381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75B749CD-7378-EF13-C005-78C7F3176E23}"/>
                </a:ext>
              </a:extLst>
            </p:cNvPr>
            <p:cNvSpPr/>
            <p:nvPr/>
          </p:nvSpPr>
          <p:spPr>
            <a:xfrm rot="10800000">
              <a:off x="1288703" y="2344401"/>
              <a:ext cx="914400" cy="914400"/>
            </a:xfrm>
            <a:prstGeom prst="arc">
              <a:avLst/>
            </a:prstGeom>
            <a:ln w="381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88DD6671-ADD0-AF39-8C52-46DA23BC8A96}"/>
              </a:ext>
            </a:extLst>
          </p:cNvPr>
          <p:cNvSpPr/>
          <p:nvPr/>
        </p:nvSpPr>
        <p:spPr>
          <a:xfrm rot="5400000">
            <a:off x="10049933" y="1435341"/>
            <a:ext cx="914400" cy="914400"/>
          </a:xfrm>
          <a:prstGeom prst="arc">
            <a:avLst/>
          </a:prstGeom>
          <a:ln w="381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080A0A5-9782-D354-ACEB-08784F94AA92}"/>
              </a:ext>
            </a:extLst>
          </p:cNvPr>
          <p:cNvGrpSpPr/>
          <p:nvPr/>
        </p:nvGrpSpPr>
        <p:grpSpPr>
          <a:xfrm>
            <a:off x="10049934" y="1435210"/>
            <a:ext cx="914401" cy="914400"/>
            <a:chOff x="10049934" y="1435210"/>
            <a:chExt cx="914401" cy="914400"/>
          </a:xfrm>
        </p:grpSpPr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831E0DB1-0CE9-1539-71AD-C9F0738F7BA4}"/>
                </a:ext>
              </a:extLst>
            </p:cNvPr>
            <p:cNvSpPr/>
            <p:nvPr/>
          </p:nvSpPr>
          <p:spPr>
            <a:xfrm rot="16200000">
              <a:off x="10049934" y="1435210"/>
              <a:ext cx="914400" cy="914400"/>
            </a:xfrm>
            <a:prstGeom prst="arc">
              <a:avLst/>
            </a:prstGeom>
            <a:ln w="381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3B53B558-182D-61AA-618F-B4D75665B491}"/>
                </a:ext>
              </a:extLst>
            </p:cNvPr>
            <p:cNvSpPr/>
            <p:nvPr/>
          </p:nvSpPr>
          <p:spPr>
            <a:xfrm>
              <a:off x="10049935" y="1435210"/>
              <a:ext cx="914400" cy="914400"/>
            </a:xfrm>
            <a:prstGeom prst="arc">
              <a:avLst/>
            </a:prstGeom>
            <a:ln w="3810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42AABFF-7105-D1FA-2EC6-9D29B77700B0}"/>
              </a:ext>
            </a:extLst>
          </p:cNvPr>
          <p:cNvCxnSpPr>
            <a:cxnSpLocks/>
            <a:stCxn id="61" idx="2"/>
            <a:endCxn id="65" idx="2"/>
          </p:cNvCxnSpPr>
          <p:nvPr/>
        </p:nvCxnSpPr>
        <p:spPr>
          <a:xfrm>
            <a:off x="1745901" y="2344532"/>
            <a:ext cx="8761232" cy="5209"/>
          </a:xfrm>
          <a:prstGeom prst="line">
            <a:avLst/>
          </a:prstGeom>
          <a:ln w="381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24ED918-8532-C622-30F4-83C8974B6299}"/>
              </a:ext>
            </a:extLst>
          </p:cNvPr>
          <p:cNvCxnSpPr>
            <a:cxnSpLocks/>
            <a:endCxn id="66" idx="0"/>
          </p:cNvCxnSpPr>
          <p:nvPr/>
        </p:nvCxnSpPr>
        <p:spPr>
          <a:xfrm flipH="1" flipV="1">
            <a:off x="10049934" y="1892410"/>
            <a:ext cx="0" cy="2022365"/>
          </a:xfrm>
          <a:prstGeom prst="line">
            <a:avLst/>
          </a:prstGeom>
          <a:ln w="38100">
            <a:solidFill>
              <a:srgbClr val="FFC000"/>
            </a:solidFill>
            <a:prstDash val="dash"/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E4A37C9-809F-C720-D007-9D63F271D530}"/>
              </a:ext>
            </a:extLst>
          </p:cNvPr>
          <p:cNvSpPr txBox="1"/>
          <p:nvPr/>
        </p:nvSpPr>
        <p:spPr>
          <a:xfrm>
            <a:off x="180754" y="180754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1 | </a:t>
            </a:r>
            <a:r>
              <a:rPr lang="en-IT" dirty="0">
                <a:solidFill>
                  <a:srgbClr val="C00000"/>
                </a:solidFill>
                <a:latin typeface="Monaco" pitchFamily="2" charset="77"/>
              </a:rPr>
              <a:t>model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.getArchitecture();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D16FE-727D-88D0-DDC1-ED4B1ED7A26F}"/>
              </a:ext>
            </a:extLst>
          </p:cNvPr>
          <p:cNvSpPr txBox="1"/>
          <p:nvPr/>
        </p:nvSpPr>
        <p:spPr>
          <a:xfrm>
            <a:off x="8104407" y="4015747"/>
            <a:ext cx="390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2 | </a:t>
            </a:r>
            <a:r>
              <a:rPr lang="en-IT" dirty="0">
                <a:solidFill>
                  <a:srgbClr val="C00000"/>
                </a:solidFill>
                <a:latin typeface="Monaco" pitchFamily="2" charset="77"/>
              </a:rPr>
              <a:t>view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.getArchitecture();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62C90-F863-D73B-56CD-BD5F4E9FA820}"/>
              </a:ext>
            </a:extLst>
          </p:cNvPr>
          <p:cNvSpPr txBox="1"/>
          <p:nvPr/>
        </p:nvSpPr>
        <p:spPr>
          <a:xfrm>
            <a:off x="488717" y="917944"/>
            <a:ext cx="937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Entire app logic built around a </a:t>
            </a:r>
            <a:r>
              <a:rPr lang="en-IT" sz="15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Monaco" pitchFamily="2" charset="77"/>
              </a:rPr>
              <a:t>GameState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class, with several other </a:t>
            </a:r>
            <a:r>
              <a:rPr lang="en-IT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satellite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classes connected to 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51D4C-4810-2F6B-29F8-EC6AD44C2531}"/>
              </a:ext>
            </a:extLst>
          </p:cNvPr>
          <p:cNvSpPr txBox="1"/>
          <p:nvPr/>
        </p:nvSpPr>
        <p:spPr>
          <a:xfrm>
            <a:off x="488717" y="1287276"/>
            <a:ext cx="976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entire model is </a:t>
            </a:r>
            <a:r>
              <a:rPr lang="en-IT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serializable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which makes backing up </a:t>
            </a:r>
            <a:r>
              <a:rPr lang="en-IT">
                <a:solidFill>
                  <a:schemeClr val="tx1">
                    <a:lumMod val="75000"/>
                    <a:lumOff val="25000"/>
                  </a:schemeClr>
                </a:solidFill>
              </a:rPr>
              <a:t>game progress 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natural and effortless.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thin-client paradigm was adopted: this way, no game logic resides on the clients.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79953B-77DF-97A4-87A6-AE5D0AEFDC76}"/>
              </a:ext>
            </a:extLst>
          </p:cNvPr>
          <p:cNvSpPr txBox="1"/>
          <p:nvPr/>
        </p:nvSpPr>
        <p:spPr>
          <a:xfrm>
            <a:off x="4486940" y="4754411"/>
            <a:ext cx="711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Game data is to sent the client through a more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concise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unified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version of the game-state classes: the </a:t>
            </a:r>
            <a:r>
              <a:rPr lang="en-US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Monaco" pitchFamily="2" charset="77"/>
              </a:rPr>
              <a:t>SharedGameState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.</a:t>
            </a:r>
            <a:endParaRPr lang="en-IT" sz="1500" dirty="0">
              <a:solidFill>
                <a:schemeClr val="tx1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16E6DA-F38F-D12D-4489-A5F1D30189D4}"/>
              </a:ext>
            </a:extLst>
          </p:cNvPr>
          <p:cNvSpPr/>
          <p:nvPr/>
        </p:nvSpPr>
        <p:spPr>
          <a:xfrm>
            <a:off x="5457357" y="2224122"/>
            <a:ext cx="1794164" cy="468132"/>
          </a:xfrm>
          <a:prstGeom prst="rect">
            <a:avLst/>
          </a:prstGeom>
          <a:ln>
            <a:solidFill>
              <a:srgbClr val="172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GameState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D17156-9D68-9A15-CDD0-1F2C2620CBF6}"/>
              </a:ext>
            </a:extLst>
          </p:cNvPr>
          <p:cNvSpPr/>
          <p:nvPr/>
        </p:nvSpPr>
        <p:spPr>
          <a:xfrm>
            <a:off x="3116145" y="3865700"/>
            <a:ext cx="1794164" cy="468132"/>
          </a:xfrm>
          <a:prstGeom prst="rect">
            <a:avLst/>
          </a:prstGeom>
          <a:solidFill>
            <a:srgbClr val="4472C4">
              <a:alpha val="75294"/>
            </a:srgbClr>
          </a:solidFill>
          <a:ln>
            <a:solidFill>
              <a:srgbClr val="172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PrivateCard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45EC05-0C21-0AEB-493E-66635DCC0B04}"/>
              </a:ext>
            </a:extLst>
          </p:cNvPr>
          <p:cNvSpPr/>
          <p:nvPr/>
        </p:nvSpPr>
        <p:spPr>
          <a:xfrm>
            <a:off x="5457357" y="3044911"/>
            <a:ext cx="1794164" cy="468132"/>
          </a:xfrm>
          <a:prstGeom prst="rect">
            <a:avLst/>
          </a:prstGeom>
          <a:solidFill>
            <a:srgbClr val="4472C4">
              <a:alpha val="75294"/>
            </a:srgbClr>
          </a:solidFill>
          <a:ln>
            <a:solidFill>
              <a:srgbClr val="172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CommonCard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09D304-038E-D021-59E0-15630F678A96}"/>
              </a:ext>
            </a:extLst>
          </p:cNvPr>
          <p:cNvSpPr/>
          <p:nvPr/>
        </p:nvSpPr>
        <p:spPr>
          <a:xfrm>
            <a:off x="3116145" y="3044911"/>
            <a:ext cx="1794164" cy="468132"/>
          </a:xfrm>
          <a:prstGeom prst="rect">
            <a:avLst/>
          </a:prstGeom>
          <a:solidFill>
            <a:srgbClr val="4472C4">
              <a:alpha val="75294"/>
            </a:srgbClr>
          </a:solidFill>
          <a:ln>
            <a:solidFill>
              <a:srgbClr val="172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Player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92EFBF-8262-ACD0-0CF6-B6A856CB2BB2}"/>
              </a:ext>
            </a:extLst>
          </p:cNvPr>
          <p:cNvSpPr/>
          <p:nvPr/>
        </p:nvSpPr>
        <p:spPr>
          <a:xfrm>
            <a:off x="7798569" y="3044911"/>
            <a:ext cx="1794164" cy="468132"/>
          </a:xfrm>
          <a:prstGeom prst="rect">
            <a:avLst/>
          </a:prstGeom>
          <a:solidFill>
            <a:srgbClr val="4472C4">
              <a:alpha val="75294"/>
            </a:srgbClr>
          </a:solidFill>
          <a:ln>
            <a:solidFill>
              <a:srgbClr val="172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Board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13E3544-0386-08BF-E0D6-9322DBF7ADE7}"/>
              </a:ext>
            </a:extLst>
          </p:cNvPr>
          <p:cNvCxnSpPr>
            <a:cxnSpLocks/>
            <a:stCxn id="13" idx="1"/>
            <a:endCxn id="16" idx="0"/>
          </p:cNvCxnSpPr>
          <p:nvPr/>
        </p:nvCxnSpPr>
        <p:spPr>
          <a:xfrm rot="10800000" flipV="1">
            <a:off x="4013227" y="2458187"/>
            <a:ext cx="1444130" cy="58672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9824B78-F12A-DB2E-61D6-9650A6ABA94B}"/>
              </a:ext>
            </a:extLst>
          </p:cNvPr>
          <p:cNvCxnSpPr>
            <a:cxnSpLocks/>
            <a:stCxn id="13" idx="3"/>
            <a:endCxn id="17" idx="0"/>
          </p:cNvCxnSpPr>
          <p:nvPr/>
        </p:nvCxnSpPr>
        <p:spPr>
          <a:xfrm>
            <a:off x="7251521" y="2458188"/>
            <a:ext cx="1444130" cy="586723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3F5A9E-2E6C-77F1-3BD0-16287B52818B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6354439" y="2692254"/>
            <a:ext cx="0" cy="3526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DC6533-7572-700C-C981-345090E6ECC5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>
            <a:off x="4013227" y="3513043"/>
            <a:ext cx="0" cy="3526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5E6CB25-00C2-EFCE-4143-98484D5E81D1}"/>
              </a:ext>
            </a:extLst>
          </p:cNvPr>
          <p:cNvSpPr txBox="1"/>
          <p:nvPr/>
        </p:nvSpPr>
        <p:spPr>
          <a:xfrm>
            <a:off x="2774544" y="5465551"/>
            <a:ext cx="8761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GUI is made up of a series of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custom crafted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components, and  </a:t>
            </a:r>
            <a:r>
              <a:rPr lang="en-GB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SharedGameState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 is rendered onto each component  by means of an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Observer-Observable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pattern.</a:t>
            </a:r>
            <a:endParaRPr lang="en-IT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9" name="Right Brace 88">
            <a:extLst>
              <a:ext uri="{FF2B5EF4-FFF2-40B4-BE49-F238E27FC236}">
                <a16:creationId xmlns:a16="http://schemas.microsoft.com/office/drawing/2014/main" id="{608DEB82-8F30-9AA6-1955-EC54EF0DE79D}"/>
              </a:ext>
            </a:extLst>
          </p:cNvPr>
          <p:cNvSpPr/>
          <p:nvPr/>
        </p:nvSpPr>
        <p:spPr>
          <a:xfrm rot="10800000">
            <a:off x="2478131" y="2224122"/>
            <a:ext cx="369332" cy="2109711"/>
          </a:xfrm>
          <a:prstGeom prst="rightBrace">
            <a:avLst>
              <a:gd name="adj1" fmla="val 53035"/>
              <a:gd name="adj2" fmla="val 49803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91997EA-6045-4CD9-2B22-6CA5177766DD}"/>
              </a:ext>
            </a:extLst>
          </p:cNvPr>
          <p:cNvSpPr/>
          <p:nvPr/>
        </p:nvSpPr>
        <p:spPr>
          <a:xfrm>
            <a:off x="270997" y="3044909"/>
            <a:ext cx="1827444" cy="468132"/>
          </a:xfrm>
          <a:prstGeom prst="rect">
            <a:avLst/>
          </a:prstGeom>
          <a:solidFill>
            <a:srgbClr val="00B0F0"/>
          </a:solidFill>
          <a:ln>
            <a:solidFill>
              <a:srgbClr val="172B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5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SharedGameState</a:t>
            </a:r>
          </a:p>
        </p:txBody>
      </p:sp>
    </p:spTree>
    <p:extLst>
      <p:ext uri="{BB962C8B-B14F-4D97-AF65-F5344CB8AC3E}">
        <p14:creationId xmlns:p14="http://schemas.microsoft.com/office/powerpoint/2010/main" val="2937760994"/>
      </p:ext>
    </p:extLst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"/>
                            </p:stCondLst>
                            <p:childTnLst>
                              <p:par>
                                <p:cTn id="6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3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5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85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3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350"/>
                            </p:stCondLst>
                            <p:childTnLst>
                              <p:par>
                                <p:cTn id="88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350"/>
                            </p:stCondLst>
                            <p:childTnLst>
                              <p:par>
                                <p:cTn id="9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2" grpId="0"/>
      <p:bldP spid="3" grpId="0"/>
      <p:bldP spid="9" grpId="0"/>
      <p:bldP spid="11" grpId="0" uiExpand="1" build="allAtOnce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88" grpId="0"/>
      <p:bldP spid="89" grpId="1" animBg="1"/>
      <p:bldP spid="9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3D67F-3636-D8AF-BE2A-6E46CC305E76}"/>
              </a:ext>
            </a:extLst>
          </p:cNvPr>
          <p:cNvSpPr txBox="1"/>
          <p:nvPr/>
        </p:nvSpPr>
        <p:spPr>
          <a:xfrm>
            <a:off x="180754" y="180754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3 | </a:t>
            </a:r>
            <a:r>
              <a:rPr lang="en-GB" dirty="0">
                <a:solidFill>
                  <a:srgbClr val="C00000"/>
                </a:solidFill>
                <a:latin typeface="Monaco" pitchFamily="2" charset="77"/>
              </a:rPr>
              <a:t>controller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.getArchitecture();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3FE68-F75B-E875-A323-AF3608F6993F}"/>
              </a:ext>
            </a:extLst>
          </p:cNvPr>
          <p:cNvSpPr txBox="1"/>
          <p:nvPr/>
        </p:nvSpPr>
        <p:spPr>
          <a:xfrm>
            <a:off x="694659" y="2953886"/>
            <a:ext cx="10802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Finally, a dedicated class acts as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middleware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between the controller and model. Its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Adapter-like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pattern means there is </a:t>
            </a:r>
            <a:r>
              <a:rPr lang="en-IT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only one model entrypoint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write-operations.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161C3-35FF-725E-F147-0F0242C96529}"/>
              </a:ext>
            </a:extLst>
          </p:cNvPr>
          <p:cNvSpPr txBox="1"/>
          <p:nvPr/>
        </p:nvSpPr>
        <p:spPr>
          <a:xfrm>
            <a:off x="694660" y="693050"/>
            <a:ext cx="10802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Problems faced with the two servers: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socket and jRMI servers are fundamentally different from one another. For instance, a socket client can receive unsollicited packets, whereas jRMI clients can’t.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8381A-7755-7F37-9B4E-D1BCD35CD03C}"/>
              </a:ext>
            </a:extLst>
          </p:cNvPr>
          <p:cNvSpPr txBox="1"/>
          <p:nvPr/>
        </p:nvSpPr>
        <p:spPr>
          <a:xfrm>
            <a:off x="694658" y="1223964"/>
            <a:ext cx="108026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Solution: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system of…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s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eparate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uplink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downlink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channel threads for each socket client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player-dedicated remote objects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(even for clients using the socket connection)</a:t>
            </a:r>
          </a:p>
          <a:p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synchronised on a unique common </a:t>
            </a:r>
            <a:r>
              <a:rPr lang="en-IT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gameLock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which enables or disables game-state broadcast transmission.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B65DBA-3FB9-FA35-73B2-16A4B6817EC9}"/>
              </a:ext>
            </a:extLst>
          </p:cNvPr>
          <p:cNvSpPr txBox="1"/>
          <p:nvPr/>
        </p:nvSpPr>
        <p:spPr>
          <a:xfrm>
            <a:off x="694659" y="2216544"/>
            <a:ext cx="108026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 connections can coexist in a same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Clients can always rejoin with the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connection as well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34BB89D-428F-17AC-21A0-B32526A4940C}"/>
              </a:ext>
            </a:extLst>
          </p:cNvPr>
          <p:cNvCxnSpPr>
            <a:cxnSpLocks/>
            <a:stCxn id="43" idx="0"/>
            <a:endCxn id="50" idx="1"/>
          </p:cNvCxnSpPr>
          <p:nvPr/>
        </p:nvCxnSpPr>
        <p:spPr>
          <a:xfrm>
            <a:off x="3549712" y="2604602"/>
            <a:ext cx="590331" cy="42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F17E55D-B3E6-D95E-1107-C0FCBEEBFDED}"/>
              </a:ext>
            </a:extLst>
          </p:cNvPr>
          <p:cNvGrpSpPr/>
          <p:nvPr/>
        </p:nvGrpSpPr>
        <p:grpSpPr>
          <a:xfrm>
            <a:off x="4140043" y="1337104"/>
            <a:ext cx="2120870" cy="2535841"/>
            <a:chOff x="3370633" y="3901456"/>
            <a:chExt cx="2120870" cy="253584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FD917ED-E992-7D39-C9BF-B22F15F08CED}"/>
                </a:ext>
              </a:extLst>
            </p:cNvPr>
            <p:cNvSpPr/>
            <p:nvPr/>
          </p:nvSpPr>
          <p:spPr>
            <a:xfrm>
              <a:off x="3370633" y="3901456"/>
              <a:ext cx="2120870" cy="2535841"/>
            </a:xfrm>
            <a:prstGeom prst="rect">
              <a:avLst/>
            </a:prstGeom>
            <a:solidFill>
              <a:srgbClr val="4472C4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latin typeface="Monaco" pitchFamily="2" charset="7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CEAC960-CFBE-5503-29AD-1AF00D977F6C}"/>
                </a:ext>
              </a:extLst>
            </p:cNvPr>
            <p:cNvSpPr txBox="1"/>
            <p:nvPr/>
          </p:nvSpPr>
          <p:spPr>
            <a:xfrm>
              <a:off x="3535984" y="4185863"/>
              <a:ext cx="272462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T" sz="1200" b="1" dirty="0">
                  <a:solidFill>
                    <a:schemeClr val="bg1"/>
                  </a:solidFill>
                  <a:latin typeface="Monaco" pitchFamily="2" charset="77"/>
                  <a:cs typeface="Calibri" panose="020F0502020204030204" pitchFamily="34" charset="0"/>
                </a:rPr>
                <a:t>CONNECTION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4E74D84-2138-8582-D201-F440DF30847F}"/>
              </a:ext>
            </a:extLst>
          </p:cNvPr>
          <p:cNvSpPr/>
          <p:nvPr/>
        </p:nvSpPr>
        <p:spPr>
          <a:xfrm>
            <a:off x="4692046" y="1559184"/>
            <a:ext cx="1260852" cy="902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Client-side socket controller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AD539-6802-B511-78EA-3A094F09CC78}"/>
              </a:ext>
            </a:extLst>
          </p:cNvPr>
          <p:cNvSpPr/>
          <p:nvPr/>
        </p:nvSpPr>
        <p:spPr>
          <a:xfrm>
            <a:off x="4692047" y="2733972"/>
            <a:ext cx="1260851" cy="927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Client-side jRMI controller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430F406-43E3-BFE8-2AEB-623AB57B746C}"/>
              </a:ext>
            </a:extLst>
          </p:cNvPr>
          <p:cNvGrpSpPr/>
          <p:nvPr/>
        </p:nvGrpSpPr>
        <p:grpSpPr>
          <a:xfrm>
            <a:off x="2635312" y="1547237"/>
            <a:ext cx="914400" cy="2114730"/>
            <a:chOff x="1865902" y="4111589"/>
            <a:chExt cx="914400" cy="2114730"/>
          </a:xfrm>
          <a:solidFill>
            <a:srgbClr val="4472C4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72D9810-77AF-E374-09F6-B7E1E351A156}"/>
                </a:ext>
              </a:extLst>
            </p:cNvPr>
            <p:cNvSpPr/>
            <p:nvPr/>
          </p:nvSpPr>
          <p:spPr>
            <a:xfrm rot="5400000">
              <a:off x="1265737" y="4711754"/>
              <a:ext cx="211473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latin typeface="Monaco" pitchFamily="2" charset="7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84188CC-0B23-19F5-8F21-A9A6254AC87E}"/>
                </a:ext>
              </a:extLst>
            </p:cNvPr>
            <p:cNvSpPr txBox="1"/>
            <p:nvPr/>
          </p:nvSpPr>
          <p:spPr>
            <a:xfrm>
              <a:off x="2157302" y="4568789"/>
              <a:ext cx="298931" cy="1200329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T" b="1" dirty="0">
                  <a:solidFill>
                    <a:schemeClr val="bg1"/>
                  </a:solidFill>
                  <a:latin typeface="Monaco" pitchFamily="2" charset="77"/>
                </a:rPr>
                <a:t>VIEW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1CA5B-7EEA-C70A-99AE-5CF2C59E3E4C}"/>
              </a:ext>
            </a:extLst>
          </p:cNvPr>
          <p:cNvSpPr/>
          <p:nvPr/>
        </p:nvSpPr>
        <p:spPr>
          <a:xfrm>
            <a:off x="8419655" y="1547238"/>
            <a:ext cx="113702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Socket controller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8217E5-5F1F-8694-675C-3F1D53316CCD}"/>
              </a:ext>
            </a:extLst>
          </p:cNvPr>
          <p:cNvSpPr/>
          <p:nvPr/>
        </p:nvSpPr>
        <p:spPr>
          <a:xfrm>
            <a:off x="8419655" y="2747567"/>
            <a:ext cx="113702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jRMI controller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E0D90D-2F3F-6EFD-B0EE-FA9C94F8195F}"/>
              </a:ext>
            </a:extLst>
          </p:cNvPr>
          <p:cNvCxnSpPr>
            <a:cxnSpLocks/>
            <a:stCxn id="17" idx="0"/>
            <a:endCxn id="16" idx="1"/>
          </p:cNvCxnSpPr>
          <p:nvPr/>
        </p:nvCxnSpPr>
        <p:spPr>
          <a:xfrm>
            <a:off x="9552696" y="5165716"/>
            <a:ext cx="82402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BB6F566-FD0B-E112-7C08-76E7FF2BD442}"/>
              </a:ext>
            </a:extLst>
          </p:cNvPr>
          <p:cNvSpPr/>
          <p:nvPr/>
        </p:nvSpPr>
        <p:spPr>
          <a:xfrm>
            <a:off x="10376719" y="4708516"/>
            <a:ext cx="914399" cy="9144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>
                <a:latin typeface="Monaco" pitchFamily="2" charset="77"/>
              </a:rPr>
              <a:t>MODEL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BE7F10-8D9A-FF5B-94F0-88B2384C3702}"/>
              </a:ext>
            </a:extLst>
          </p:cNvPr>
          <p:cNvGrpSpPr/>
          <p:nvPr/>
        </p:nvGrpSpPr>
        <p:grpSpPr>
          <a:xfrm>
            <a:off x="8638296" y="4108351"/>
            <a:ext cx="914400" cy="2114730"/>
            <a:chOff x="8638296" y="4108351"/>
            <a:chExt cx="914400" cy="211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8C4F70-B18B-5D88-2AF9-567E01CCAEFB}"/>
                </a:ext>
              </a:extLst>
            </p:cNvPr>
            <p:cNvSpPr/>
            <p:nvPr/>
          </p:nvSpPr>
          <p:spPr>
            <a:xfrm rot="5400000">
              <a:off x="8038131" y="4708516"/>
              <a:ext cx="211473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latin typeface="Monaco" pitchFamily="2" charset="7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067FE3-DC96-9635-6E26-51F91C514DCE}"/>
                </a:ext>
              </a:extLst>
            </p:cNvPr>
            <p:cNvSpPr txBox="1"/>
            <p:nvPr/>
          </p:nvSpPr>
          <p:spPr>
            <a:xfrm>
              <a:off x="8928085" y="4205491"/>
              <a:ext cx="334814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T" sz="1200" b="1" dirty="0">
                  <a:solidFill>
                    <a:schemeClr val="bg1"/>
                  </a:solidFill>
                  <a:latin typeface="Monaco" pitchFamily="2" charset="77"/>
                </a:rPr>
                <a:t>MIDDLEWARE</a:t>
              </a:r>
              <a:endParaRPr lang="en-IT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FF8FC7-7481-28B1-080F-8DBB0D07CF50}"/>
              </a:ext>
            </a:extLst>
          </p:cNvPr>
          <p:cNvCxnSpPr>
            <a:cxnSpLocks/>
          </p:cNvCxnSpPr>
          <p:nvPr/>
        </p:nvCxnSpPr>
        <p:spPr>
          <a:xfrm flipV="1">
            <a:off x="4210490" y="4365527"/>
            <a:ext cx="2466757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EA1E55C-D088-9C3D-26ED-963176433AB5}"/>
              </a:ext>
            </a:extLst>
          </p:cNvPr>
          <p:cNvCxnSpPr>
            <a:cxnSpLocks/>
          </p:cNvCxnSpPr>
          <p:nvPr/>
        </p:nvCxnSpPr>
        <p:spPr>
          <a:xfrm flipV="1">
            <a:off x="4210490" y="4740168"/>
            <a:ext cx="2466757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9D9F2C1-E125-4590-A6C6-578F6AB322AE}"/>
              </a:ext>
            </a:extLst>
          </p:cNvPr>
          <p:cNvCxnSpPr>
            <a:cxnSpLocks/>
          </p:cNvCxnSpPr>
          <p:nvPr/>
        </p:nvCxnSpPr>
        <p:spPr>
          <a:xfrm flipV="1">
            <a:off x="7814275" y="5165716"/>
            <a:ext cx="824021" cy="60016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563C64-65ED-FFBF-75FC-CEAB41689787}"/>
              </a:ext>
            </a:extLst>
          </p:cNvPr>
          <p:cNvCxnSpPr>
            <a:cxnSpLocks/>
          </p:cNvCxnSpPr>
          <p:nvPr/>
        </p:nvCxnSpPr>
        <p:spPr>
          <a:xfrm>
            <a:off x="7814275" y="4565552"/>
            <a:ext cx="824021" cy="600164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533210B9-61F5-C723-D765-751337721233}"/>
              </a:ext>
            </a:extLst>
          </p:cNvPr>
          <p:cNvGrpSpPr/>
          <p:nvPr/>
        </p:nvGrpSpPr>
        <p:grpSpPr>
          <a:xfrm>
            <a:off x="7245761" y="5622916"/>
            <a:ext cx="3588158" cy="1072715"/>
            <a:chOff x="7245761" y="5622916"/>
            <a:chExt cx="3588158" cy="107271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1433AC-085F-9CCD-24F3-82AC5C965776}"/>
                </a:ext>
              </a:extLst>
            </p:cNvPr>
            <p:cNvSpPr txBox="1"/>
            <p:nvPr/>
          </p:nvSpPr>
          <p:spPr>
            <a:xfrm>
              <a:off x="8156773" y="6449410"/>
              <a:ext cx="18774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Monaco" pitchFamily="2" charset="77"/>
                </a:rPr>
                <a:t>s</a:t>
              </a:r>
              <a:r>
                <a:rPr lang="en-IT" sz="1000" dirty="0">
                  <a:latin typeface="Monaco" pitchFamily="2" charset="77"/>
                </a:rPr>
                <a:t>ynchronised(gameLock)</a:t>
              </a:r>
            </a:p>
          </p:txBody>
        </p:sp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87C8FB6F-0205-C97C-53B7-6291362D105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739757" y="4128920"/>
              <a:ext cx="600165" cy="3588158"/>
            </a:xfrm>
            <a:prstGeom prst="curvedConnector3">
              <a:avLst>
                <a:gd name="adj1" fmla="val -3809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666C90B-301A-EA13-E7BC-B8BF872F06E5}"/>
              </a:ext>
            </a:extLst>
          </p:cNvPr>
          <p:cNvGrpSpPr/>
          <p:nvPr/>
        </p:nvGrpSpPr>
        <p:grpSpPr>
          <a:xfrm>
            <a:off x="7245761" y="3635801"/>
            <a:ext cx="3588158" cy="1072715"/>
            <a:chOff x="7245761" y="3635801"/>
            <a:chExt cx="3588158" cy="1072715"/>
          </a:xfrm>
        </p:grpSpPr>
        <p:cxnSp>
          <p:nvCxnSpPr>
            <p:cNvPr id="20" name="Curved Connector 19">
              <a:extLst>
                <a:ext uri="{FF2B5EF4-FFF2-40B4-BE49-F238E27FC236}">
                  <a16:creationId xmlns:a16="http://schemas.microsoft.com/office/drawing/2014/main" id="{193B3E23-DAF2-EDEA-D9A9-B8B34C73F25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739758" y="2614355"/>
              <a:ext cx="600164" cy="3588158"/>
            </a:xfrm>
            <a:prstGeom prst="curvedConnector3">
              <a:avLst>
                <a:gd name="adj1" fmla="val -3809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E7B18C1-BAEB-707B-C4CC-F95A224BA15C}"/>
                </a:ext>
              </a:extLst>
            </p:cNvPr>
            <p:cNvSpPr txBox="1"/>
            <p:nvPr/>
          </p:nvSpPr>
          <p:spPr>
            <a:xfrm>
              <a:off x="8101120" y="3635801"/>
              <a:ext cx="18774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Monaco" pitchFamily="2" charset="77"/>
                </a:rPr>
                <a:t>s</a:t>
              </a:r>
              <a:r>
                <a:rPr lang="en-IT" sz="1000" dirty="0">
                  <a:latin typeface="Monaco" pitchFamily="2" charset="77"/>
                </a:rPr>
                <a:t>ynchronised(gameLock)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CAA29A-4B2C-766C-FE56-137DBCA6E49C}"/>
              </a:ext>
            </a:extLst>
          </p:cNvPr>
          <p:cNvCxnSpPr>
            <a:cxnSpLocks/>
          </p:cNvCxnSpPr>
          <p:nvPr/>
        </p:nvCxnSpPr>
        <p:spPr>
          <a:xfrm>
            <a:off x="4210490" y="5759083"/>
            <a:ext cx="2466757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67194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4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50"/>
                            </p:stCondLst>
                            <p:childTnLst>
                              <p:par>
                                <p:cTn id="37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6 -1.11111E-6 L -0.14258 0.37338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35" y="18657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58333E-6 -1.11111E-6 L -0.14244 0.37338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22" y="18657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5E-6 -1.11111E-6 L -0.14401 0.37338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01" y="18657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45833E-6 4.44444E-6 L -0.14336 0.37152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74" y="1856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45833E-6 -3.7037E-6 L -0.14336 0.37338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74" y="18657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-1.11111E-6 L -0.14297 0.37222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8" y="18611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-1.11111E-6 L -0.14297 0.37269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48" y="18634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7" grpId="0" uiExpand="1" build="allAtOnce"/>
      <p:bldP spid="10" grpId="0" uiExpand="1" build="allAtOnce"/>
      <p:bldP spid="14" grpId="0" animBg="1"/>
      <p:bldP spid="14" grpId="1" animBg="1"/>
      <p:bldP spid="15" grpId="0" animBg="1"/>
      <p:bldP spid="15" grpId="1" animBg="1"/>
      <p:bldP spid="12" grpId="0" animBg="1"/>
      <p:bldP spid="12" grpId="1" animBg="1"/>
      <p:bldP spid="13" grpId="0" animBg="1"/>
      <p:bldP spid="13" grpId="1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2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3D67F-3636-D8AF-BE2A-6E46CC305E76}"/>
              </a:ext>
            </a:extLst>
          </p:cNvPr>
          <p:cNvSpPr txBox="1"/>
          <p:nvPr/>
        </p:nvSpPr>
        <p:spPr>
          <a:xfrm>
            <a:off x="180754" y="180754"/>
            <a:ext cx="4733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3 | </a:t>
            </a:r>
            <a:r>
              <a:rPr lang="en-GB" dirty="0">
                <a:solidFill>
                  <a:srgbClr val="C00000"/>
                </a:solidFill>
                <a:latin typeface="Monaco" pitchFamily="2" charset="77"/>
              </a:rPr>
              <a:t>controller</a:t>
            </a:r>
            <a:r>
              <a:rPr lang="en-IT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.getArchitecture();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3FE68-F75B-E875-A323-AF3608F6993F}"/>
              </a:ext>
            </a:extLst>
          </p:cNvPr>
          <p:cNvSpPr txBox="1"/>
          <p:nvPr/>
        </p:nvSpPr>
        <p:spPr>
          <a:xfrm>
            <a:off x="694659" y="2953886"/>
            <a:ext cx="10802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Finally, a dedicated class acts as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middleware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between the controller and model. Its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Adapter-like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pattern means there is </a:t>
            </a:r>
            <a:r>
              <a:rPr lang="en-IT" sz="16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only one model entrypoint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for write-operations.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161C3-35FF-725E-F147-0F0242C96529}"/>
              </a:ext>
            </a:extLst>
          </p:cNvPr>
          <p:cNvSpPr txBox="1"/>
          <p:nvPr/>
        </p:nvSpPr>
        <p:spPr>
          <a:xfrm>
            <a:off x="694660" y="693050"/>
            <a:ext cx="10802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Problems faced with the two servers: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socket and jRMI servers are fundamentally different from one another. For instance, a socket client can receive unsollicited packets, whereas jRMI clients can’t.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D8381A-7755-7F37-9B4E-D1BCD35CD03C}"/>
              </a:ext>
            </a:extLst>
          </p:cNvPr>
          <p:cNvSpPr txBox="1"/>
          <p:nvPr/>
        </p:nvSpPr>
        <p:spPr>
          <a:xfrm>
            <a:off x="694658" y="1223964"/>
            <a:ext cx="108026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Solution: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system of…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s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eparate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uplink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downlink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channel threads for each socket client</a:t>
            </a:r>
          </a:p>
          <a:p>
            <a:pPr marL="342900" indent="-342900">
              <a:buFont typeface="+mj-lt"/>
              <a:buAutoNum type="arabicPeriod"/>
            </a:pP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 player-dedicated remote objects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(even for clients using the socket connection)</a:t>
            </a:r>
          </a:p>
          <a:p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synchronised on a unique common </a:t>
            </a:r>
            <a:r>
              <a:rPr lang="en-IT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onaco" pitchFamily="2" charset="77"/>
              </a:rPr>
              <a:t>gameLock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which enables or disables game-state broadcast transmission.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B65DBA-3FB9-FA35-73B2-16A4B6817EC9}"/>
              </a:ext>
            </a:extLst>
          </p:cNvPr>
          <p:cNvSpPr txBox="1"/>
          <p:nvPr/>
        </p:nvSpPr>
        <p:spPr>
          <a:xfrm>
            <a:off x="694659" y="2216544"/>
            <a:ext cx="108026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Different connections can coexist in a same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Clients can always rejoin with the </a:t>
            </a:r>
            <a:r>
              <a:rPr lang="en-IT" sz="16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</a:t>
            </a:r>
            <a:r>
              <a:rPr lang="en-IT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connection as well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D834D97-9991-C13A-E772-E203E666EAA4}"/>
              </a:ext>
            </a:extLst>
          </p:cNvPr>
          <p:cNvCxnSpPr>
            <a:cxnSpLocks/>
            <a:stCxn id="13" idx="3"/>
            <a:endCxn id="17" idx="2"/>
          </p:cNvCxnSpPr>
          <p:nvPr/>
        </p:nvCxnSpPr>
        <p:spPr>
          <a:xfrm flipV="1">
            <a:off x="7814275" y="5165716"/>
            <a:ext cx="824021" cy="60016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98B12A-7E9A-FC3F-F317-F8E4655CB170}"/>
              </a:ext>
            </a:extLst>
          </p:cNvPr>
          <p:cNvCxnSpPr>
            <a:cxnSpLocks/>
            <a:stCxn id="12" idx="3"/>
            <a:endCxn id="17" idx="2"/>
          </p:cNvCxnSpPr>
          <p:nvPr/>
        </p:nvCxnSpPr>
        <p:spPr>
          <a:xfrm>
            <a:off x="7814275" y="4565552"/>
            <a:ext cx="824021" cy="600164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28BBA4E-8032-E267-7564-8BB96CAE8D15}"/>
              </a:ext>
            </a:extLst>
          </p:cNvPr>
          <p:cNvGrpSpPr/>
          <p:nvPr/>
        </p:nvGrpSpPr>
        <p:grpSpPr>
          <a:xfrm>
            <a:off x="7245761" y="5622916"/>
            <a:ext cx="3588158" cy="1072715"/>
            <a:chOff x="7245761" y="5622916"/>
            <a:chExt cx="3588158" cy="107271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5CB175D-8086-65EC-1163-01ABFD22798C}"/>
                </a:ext>
              </a:extLst>
            </p:cNvPr>
            <p:cNvSpPr txBox="1"/>
            <p:nvPr/>
          </p:nvSpPr>
          <p:spPr>
            <a:xfrm>
              <a:off x="8156773" y="6449410"/>
              <a:ext cx="18774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Monaco" pitchFamily="2" charset="77"/>
                </a:rPr>
                <a:t>s</a:t>
              </a:r>
              <a:r>
                <a:rPr lang="en-IT" sz="1000" dirty="0">
                  <a:latin typeface="Monaco" pitchFamily="2" charset="77"/>
                </a:rPr>
                <a:t>ynchronised(gameLock)</a:t>
              </a:r>
            </a:p>
          </p:txBody>
        </p:sp>
        <p:cxnSp>
          <p:nvCxnSpPr>
            <p:cNvPr id="32" name="Curved Connector 31">
              <a:extLst>
                <a:ext uri="{FF2B5EF4-FFF2-40B4-BE49-F238E27FC236}">
                  <a16:creationId xmlns:a16="http://schemas.microsoft.com/office/drawing/2014/main" id="{16766530-06FD-392A-0202-0F9BB2C49AF2}"/>
                </a:ext>
              </a:extLst>
            </p:cNvPr>
            <p:cNvCxnSpPr>
              <a:cxnSpLocks/>
              <a:stCxn id="13" idx="2"/>
              <a:endCxn id="16" idx="2"/>
            </p:cNvCxnSpPr>
            <p:nvPr/>
          </p:nvCxnSpPr>
          <p:spPr>
            <a:xfrm rot="5400000" flipH="1" flipV="1">
              <a:off x="8739757" y="4128920"/>
              <a:ext cx="600165" cy="3588158"/>
            </a:xfrm>
            <a:prstGeom prst="curvedConnector3">
              <a:avLst>
                <a:gd name="adj1" fmla="val -3809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9D6DED3-A67E-C90D-E73B-2B6C44A54A5B}"/>
              </a:ext>
            </a:extLst>
          </p:cNvPr>
          <p:cNvGrpSpPr/>
          <p:nvPr/>
        </p:nvGrpSpPr>
        <p:grpSpPr>
          <a:xfrm>
            <a:off x="7245761" y="3635801"/>
            <a:ext cx="3588158" cy="1072715"/>
            <a:chOff x="7245761" y="3635801"/>
            <a:chExt cx="3588158" cy="1072715"/>
          </a:xfrm>
        </p:grpSpPr>
        <p:cxnSp>
          <p:nvCxnSpPr>
            <p:cNvPr id="26" name="Curved Connector 25">
              <a:extLst>
                <a:ext uri="{FF2B5EF4-FFF2-40B4-BE49-F238E27FC236}">
                  <a16:creationId xmlns:a16="http://schemas.microsoft.com/office/drawing/2014/main" id="{AB9A7016-94B9-8814-4BC9-2A32ECB59DE1}"/>
                </a:ext>
              </a:extLst>
            </p:cNvPr>
            <p:cNvCxnSpPr>
              <a:cxnSpLocks/>
              <a:stCxn id="12" idx="0"/>
              <a:endCxn id="16" idx="0"/>
            </p:cNvCxnSpPr>
            <p:nvPr/>
          </p:nvCxnSpPr>
          <p:spPr>
            <a:xfrm rot="16200000" flipH="1">
              <a:off x="8739758" y="2614355"/>
              <a:ext cx="600164" cy="3588158"/>
            </a:xfrm>
            <a:prstGeom prst="curvedConnector3">
              <a:avLst>
                <a:gd name="adj1" fmla="val -3809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026B4F5-71D0-FC54-1786-A0804289926E}"/>
                </a:ext>
              </a:extLst>
            </p:cNvPr>
            <p:cNvSpPr txBox="1"/>
            <p:nvPr/>
          </p:nvSpPr>
          <p:spPr>
            <a:xfrm>
              <a:off x="8101120" y="3635801"/>
              <a:ext cx="187743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>
                  <a:latin typeface="Monaco" pitchFamily="2" charset="77"/>
                </a:rPr>
                <a:t>s</a:t>
              </a:r>
              <a:r>
                <a:rPr lang="en-IT" sz="1000" dirty="0">
                  <a:latin typeface="Monaco" pitchFamily="2" charset="77"/>
                </a:rPr>
                <a:t>ynchronised(gameLock)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34BB89D-428F-17AC-21A0-B32526A4940C}"/>
              </a:ext>
            </a:extLst>
          </p:cNvPr>
          <p:cNvCxnSpPr>
            <a:cxnSpLocks/>
            <a:stCxn id="43" idx="0"/>
            <a:endCxn id="50" idx="1"/>
          </p:cNvCxnSpPr>
          <p:nvPr/>
        </p:nvCxnSpPr>
        <p:spPr>
          <a:xfrm>
            <a:off x="1807304" y="5165716"/>
            <a:ext cx="590331" cy="42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F17E55D-B3E6-D95E-1107-C0FCBEEBFDED}"/>
              </a:ext>
            </a:extLst>
          </p:cNvPr>
          <p:cNvGrpSpPr/>
          <p:nvPr/>
        </p:nvGrpSpPr>
        <p:grpSpPr>
          <a:xfrm>
            <a:off x="2397635" y="3898218"/>
            <a:ext cx="2120870" cy="2535841"/>
            <a:chOff x="3370633" y="3901456"/>
            <a:chExt cx="2120870" cy="253584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FD917ED-E992-7D39-C9BF-B22F15F08CED}"/>
                </a:ext>
              </a:extLst>
            </p:cNvPr>
            <p:cNvSpPr/>
            <p:nvPr/>
          </p:nvSpPr>
          <p:spPr>
            <a:xfrm>
              <a:off x="3370633" y="3901456"/>
              <a:ext cx="2120870" cy="2535841"/>
            </a:xfrm>
            <a:prstGeom prst="rect">
              <a:avLst/>
            </a:prstGeom>
            <a:solidFill>
              <a:srgbClr val="4472C4">
                <a:alpha val="50196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latin typeface="Monaco" pitchFamily="2" charset="7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CEAC960-CFBE-5503-29AD-1AF00D977F6C}"/>
                </a:ext>
              </a:extLst>
            </p:cNvPr>
            <p:cNvSpPr txBox="1"/>
            <p:nvPr/>
          </p:nvSpPr>
          <p:spPr>
            <a:xfrm>
              <a:off x="3535984" y="4185863"/>
              <a:ext cx="272462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T" sz="1200" b="1" dirty="0">
                  <a:solidFill>
                    <a:schemeClr val="bg1"/>
                  </a:solidFill>
                  <a:latin typeface="Monaco" pitchFamily="2" charset="77"/>
                  <a:cs typeface="Calibri" panose="020F0502020204030204" pitchFamily="34" charset="0"/>
                </a:rPr>
                <a:t>CONNECTION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4E74D84-2138-8582-D201-F440DF30847F}"/>
              </a:ext>
            </a:extLst>
          </p:cNvPr>
          <p:cNvSpPr/>
          <p:nvPr/>
        </p:nvSpPr>
        <p:spPr>
          <a:xfrm>
            <a:off x="2949638" y="4120298"/>
            <a:ext cx="1260852" cy="902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Client-side socket controller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CAD539-6802-B511-78EA-3A094F09CC78}"/>
              </a:ext>
            </a:extLst>
          </p:cNvPr>
          <p:cNvSpPr/>
          <p:nvPr/>
        </p:nvSpPr>
        <p:spPr>
          <a:xfrm>
            <a:off x="2949639" y="5295086"/>
            <a:ext cx="1260851" cy="927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Client-side jRMI controller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430F406-43E3-BFE8-2AEB-623AB57B746C}"/>
              </a:ext>
            </a:extLst>
          </p:cNvPr>
          <p:cNvGrpSpPr/>
          <p:nvPr/>
        </p:nvGrpSpPr>
        <p:grpSpPr>
          <a:xfrm>
            <a:off x="892904" y="4108351"/>
            <a:ext cx="914400" cy="2114730"/>
            <a:chOff x="1865902" y="4111589"/>
            <a:chExt cx="914400" cy="2114730"/>
          </a:xfrm>
          <a:solidFill>
            <a:srgbClr val="4472C4"/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72D9810-77AF-E374-09F6-B7E1E351A156}"/>
                </a:ext>
              </a:extLst>
            </p:cNvPr>
            <p:cNvSpPr/>
            <p:nvPr/>
          </p:nvSpPr>
          <p:spPr>
            <a:xfrm rot="5400000">
              <a:off x="1265737" y="4711754"/>
              <a:ext cx="2114730" cy="9144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latin typeface="Monaco" pitchFamily="2" charset="7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84188CC-0B23-19F5-8F21-A9A6254AC87E}"/>
                </a:ext>
              </a:extLst>
            </p:cNvPr>
            <p:cNvSpPr txBox="1"/>
            <p:nvPr/>
          </p:nvSpPr>
          <p:spPr>
            <a:xfrm>
              <a:off x="2157302" y="4568789"/>
              <a:ext cx="298931" cy="1200329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T" b="1" dirty="0">
                  <a:solidFill>
                    <a:schemeClr val="bg1"/>
                  </a:solidFill>
                  <a:latin typeface="Monaco" pitchFamily="2" charset="77"/>
                </a:rPr>
                <a:t>VIEW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1CA5B-7EEA-C70A-99AE-5CF2C59E3E4C}"/>
              </a:ext>
            </a:extLst>
          </p:cNvPr>
          <p:cNvSpPr/>
          <p:nvPr/>
        </p:nvSpPr>
        <p:spPr>
          <a:xfrm>
            <a:off x="6677247" y="4108352"/>
            <a:ext cx="113702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Socket controller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8217E5-5F1F-8694-675C-3F1D53316CCD}"/>
              </a:ext>
            </a:extLst>
          </p:cNvPr>
          <p:cNvSpPr/>
          <p:nvPr/>
        </p:nvSpPr>
        <p:spPr>
          <a:xfrm>
            <a:off x="6677247" y="5308681"/>
            <a:ext cx="1137028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1000" dirty="0">
                <a:latin typeface="Monaco" pitchFamily="2" charset="77"/>
              </a:rPr>
              <a:t>jRMI controller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E0D90D-2F3F-6EFD-B0EE-FA9C94F8195F}"/>
              </a:ext>
            </a:extLst>
          </p:cNvPr>
          <p:cNvCxnSpPr>
            <a:cxnSpLocks/>
            <a:stCxn id="17" idx="0"/>
            <a:endCxn id="16" idx="1"/>
          </p:cNvCxnSpPr>
          <p:nvPr/>
        </p:nvCxnSpPr>
        <p:spPr>
          <a:xfrm>
            <a:off x="9552696" y="5165716"/>
            <a:ext cx="824023" cy="0"/>
          </a:xfrm>
          <a:prstGeom prst="straightConnector1">
            <a:avLst/>
          </a:prstGeom>
          <a:ln w="571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BB6F566-FD0B-E112-7C08-76E7FF2BD442}"/>
              </a:ext>
            </a:extLst>
          </p:cNvPr>
          <p:cNvSpPr/>
          <p:nvPr/>
        </p:nvSpPr>
        <p:spPr>
          <a:xfrm>
            <a:off x="10376719" y="4708516"/>
            <a:ext cx="914399" cy="9144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b="1" dirty="0">
                <a:latin typeface="Monaco" pitchFamily="2" charset="77"/>
              </a:rPr>
              <a:t>MODEL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8BE7F10-8D9A-FF5B-94F0-88B2384C3702}"/>
              </a:ext>
            </a:extLst>
          </p:cNvPr>
          <p:cNvGrpSpPr/>
          <p:nvPr/>
        </p:nvGrpSpPr>
        <p:grpSpPr>
          <a:xfrm>
            <a:off x="8638296" y="4108351"/>
            <a:ext cx="914400" cy="2114730"/>
            <a:chOff x="8638296" y="4108351"/>
            <a:chExt cx="914400" cy="21147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E8C4F70-B18B-5D88-2AF9-567E01CCAEFB}"/>
                </a:ext>
              </a:extLst>
            </p:cNvPr>
            <p:cNvSpPr/>
            <p:nvPr/>
          </p:nvSpPr>
          <p:spPr>
            <a:xfrm rot="5400000">
              <a:off x="8038131" y="4708516"/>
              <a:ext cx="211473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 dirty="0">
                <a:latin typeface="Monaco" pitchFamily="2" charset="77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1067FE3-DC96-9635-6E26-51F91C514DCE}"/>
                </a:ext>
              </a:extLst>
            </p:cNvPr>
            <p:cNvSpPr txBox="1"/>
            <p:nvPr/>
          </p:nvSpPr>
          <p:spPr>
            <a:xfrm>
              <a:off x="8928085" y="4205491"/>
              <a:ext cx="334814" cy="193899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T" sz="1200" b="1" dirty="0">
                  <a:solidFill>
                    <a:schemeClr val="bg1"/>
                  </a:solidFill>
                  <a:latin typeface="Monaco" pitchFamily="2" charset="77"/>
                </a:rPr>
                <a:t>MIDDLEWARE</a:t>
              </a:r>
              <a:endParaRPr lang="en-IT" sz="12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7A71B7-918F-E6E1-B0D4-281503FC0646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4210490" y="5759083"/>
            <a:ext cx="2466757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2FF8FC7-7481-28B1-080F-8DBB0D07CF50}"/>
              </a:ext>
            </a:extLst>
          </p:cNvPr>
          <p:cNvCxnSpPr>
            <a:cxnSpLocks/>
          </p:cNvCxnSpPr>
          <p:nvPr/>
        </p:nvCxnSpPr>
        <p:spPr>
          <a:xfrm flipV="1">
            <a:off x="4210490" y="4365527"/>
            <a:ext cx="2466757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EA1E55C-D088-9C3D-26ED-963176433AB5}"/>
              </a:ext>
            </a:extLst>
          </p:cNvPr>
          <p:cNvCxnSpPr>
            <a:cxnSpLocks/>
          </p:cNvCxnSpPr>
          <p:nvPr/>
        </p:nvCxnSpPr>
        <p:spPr>
          <a:xfrm flipV="1">
            <a:off x="4210490" y="4740168"/>
            <a:ext cx="2466757" cy="0"/>
          </a:xfrm>
          <a:prstGeom prst="straightConnector1">
            <a:avLst/>
          </a:prstGeom>
          <a:ln w="38100">
            <a:solidFill>
              <a:srgbClr val="C00000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77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4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6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8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5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  <p:bldP spid="7" grpId="0" uiExpand="1" build="allAtOnce"/>
      <p:bldP spid="10" grpId="0" uiExpand="1" build="allAtOnce"/>
      <p:bldP spid="14" grpId="0" animBg="1"/>
      <p:bldP spid="15" grpId="0" animBg="1"/>
      <p:bldP spid="12" grpId="0" animBg="1"/>
      <p:bldP spid="13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484</Words>
  <Application>Microsoft Macintosh PowerPoint</Application>
  <PresentationFormat>Widescreen</PresentationFormat>
  <Paragraphs>69</Paragraphs>
  <Slides>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Futura Medium</vt:lpstr>
      <vt:lpstr>Helvetica</vt:lpstr>
      <vt:lpstr>Monaco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Ferrarini</dc:creator>
  <cp:lastModifiedBy>Andrea Ferrarini</cp:lastModifiedBy>
  <cp:revision>171</cp:revision>
  <dcterms:created xsi:type="dcterms:W3CDTF">2023-06-28T09:16:48Z</dcterms:created>
  <dcterms:modified xsi:type="dcterms:W3CDTF">2023-07-02T20:24:59Z</dcterms:modified>
</cp:coreProperties>
</file>